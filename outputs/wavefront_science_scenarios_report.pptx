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8f54f28ce4e77" /><Relationship Type="http://schemas.openxmlformats.org/officeDocument/2006/relationships/extended-properties" Target="/docProps/app.xml" Id="R33f7a3b2ea8b4f06" /><Relationship Type="http://schemas.openxmlformats.org/officeDocument/2006/relationships/officeDocument" Target="/ppt/presentation.xml" Id="R6447ae46f31c4e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cbe87f2184b43"/>
  </p:sldMasterIdLst>
  <p:notesMasterIdLst>
    <p:notesMasterId xmlns:r="http://schemas.openxmlformats.org/officeDocument/2006/relationships" r:id="Rf03bfef64cbe4df5"/>
  </p:notesMasterIdLst>
  <p:sldIdLst>
    <p:sldId xmlns:r="http://schemas.openxmlformats.org/officeDocument/2006/relationships" id="256" r:id="Rf9dbff6723fe48d3"/>
    <p:sldId xmlns:r="http://schemas.openxmlformats.org/officeDocument/2006/relationships" id="257" r:id="R676d6c26e45d4275"/>
    <p:sldId xmlns:r="http://schemas.openxmlformats.org/officeDocument/2006/relationships" id="258" r:id="Rbf45736a18a24076"/>
    <p:sldId xmlns:r="http://schemas.openxmlformats.org/officeDocument/2006/relationships" id="259" r:id="Rc2eab20e8df8483f"/>
    <p:sldId xmlns:r="http://schemas.openxmlformats.org/officeDocument/2006/relationships" id="260" r:id="Rb61e88af35844d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ff80c18a24499" /><Relationship Type="http://schemas.openxmlformats.org/officeDocument/2006/relationships/slideMaster" Target="/ppt/slideMasters/slideMaster1.xml" Id="R9d0cbe87f2184b43" /><Relationship Type="http://schemas.openxmlformats.org/officeDocument/2006/relationships/notesMaster" Target="/ppt/notesMasters/notesMaster1.xml" Id="Rf03bfef64cbe4df5" /><Relationship Type="http://schemas.openxmlformats.org/officeDocument/2006/relationships/presProps" Target="/ppt/presProps.xml" Id="R1af2dd5b0c8f497d" /><Relationship Type="http://schemas.openxmlformats.org/officeDocument/2006/relationships/tableStyles" Target="/ppt/tableStyles.xml" Id="R38fb63bd4afa4115" /><Relationship Type="http://schemas.openxmlformats.org/officeDocument/2006/relationships/slide" Target="/ppt/slides/slide1.xml" Id="Rf9dbff6723fe48d3" /><Relationship Type="http://schemas.openxmlformats.org/officeDocument/2006/relationships/slide" Target="/ppt/slides/slide2.xml" Id="R676d6c26e45d4275" /><Relationship Type="http://schemas.openxmlformats.org/officeDocument/2006/relationships/slide" Target="/ppt/slides/slide3.xml" Id="Rbf45736a18a24076" /><Relationship Type="http://schemas.openxmlformats.org/officeDocument/2006/relationships/slide" Target="/ppt/slides/slide4.xml" Id="Rc2eab20e8df8483f" /><Relationship Type="http://schemas.openxmlformats.org/officeDocument/2006/relationships/slide" Target="/ppt/slides/slide5.xml" Id="Rb61e88af3584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a476eb486b43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ae0d7fbad54762" /><Relationship Type="http://schemas.openxmlformats.org/officeDocument/2006/relationships/notesMaster" Target="/ppt/notesMasters/notesMaster1.xml" Id="Re67f3fcdd8ef44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4423307df74dcf" /><Relationship Type="http://schemas.openxmlformats.org/officeDocument/2006/relationships/notesMaster" Target="/ppt/notesMasters/notesMaster1.xml" Id="R0ee3a644cc7b40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d9485a478f4aed" /><Relationship Type="http://schemas.openxmlformats.org/officeDocument/2006/relationships/notesMaster" Target="/ppt/notesMasters/notesMaster1.xml" Id="R93048dc60ff841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f1cfc8fad84e42" /><Relationship Type="http://schemas.openxmlformats.org/officeDocument/2006/relationships/notesMaster" Target="/ppt/notesMasters/notesMaster1.xml" Id="R20bc650ee27d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0e900d928949ae" /><Relationship Type="http://schemas.openxmlformats.org/officeDocument/2006/relationships/notesMaster" Target="/ppt/notesMasters/notesMaster1.xml" Id="R80d6f73dcb90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63ea933f146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333e5e65b74816" /><Relationship Type="http://schemas.openxmlformats.org/officeDocument/2006/relationships/slideLayout" Target="/ppt/slideLayouts/slideLayout1.xml" Id="Rde582e0a3eb446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582e0a3eb446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7d52d00114bb6" /><Relationship Type="http://schemas.openxmlformats.org/officeDocument/2006/relationships/notesSlide" Target="/ppt/notesSlides/notesSlide1.xml" Id="Rce4206fb5cc5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64a5d9fde477d" /><Relationship Type="http://schemas.openxmlformats.org/officeDocument/2006/relationships/image" Target="/ppt/media/image.png" Id="Rde430f8bb8804eb1" /><Relationship Type="http://schemas.openxmlformats.org/officeDocument/2006/relationships/notesSlide" Target="/ppt/notesSlides/notesSlide2.xml" Id="Ra1e7c88a08db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4f742a984271" /><Relationship Type="http://schemas.openxmlformats.org/officeDocument/2006/relationships/image" Target="/ppt/media/image2.png" Id="R0c3b2973c55041ec" /><Relationship Type="http://schemas.openxmlformats.org/officeDocument/2006/relationships/notesSlide" Target="/ppt/notesSlides/notesSlide3.xml" Id="R65a56b8fe46b42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4fe72791e4368" /><Relationship Type="http://schemas.openxmlformats.org/officeDocument/2006/relationships/image" Target="/ppt/media/image3.png" Id="R4c4e5399e1674025" /><Relationship Type="http://schemas.openxmlformats.org/officeDocument/2006/relationships/notesSlide" Target="/ppt/notesSlides/notesSlide4.xml" Id="Rfa849dde72f943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ca767a9ab424d" /><Relationship Type="http://schemas.openxmlformats.org/officeDocument/2006/relationships/notesSlide" Target="/ppt/notesSlides/notesSlide5.xml" Id="R22fd6b76d70348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D985E-30AE-498C-845A-1CF5B166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抽象框架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EC6BF-481D-479D-A693-17C5C3B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Wavefront：从导航到科学状态空间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5A224-88F1-44B5-9ECC-38BA0B4C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47700" y="1790700"/>
          <a:ext xmlns:a="http://schemas.openxmlformats.org/drawingml/2006/main" cx="5286375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01932"/>
                <a:gridCol w="1730086"/>
                <a:gridCol w="1954357"/>
              </a:tblGrid>
              <a:tr h="563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导航问题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抽象模型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科学场景</a:t>
                      </a: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路口 / 地点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状态节点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构象、细胞状态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道路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可达转移边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构象跃迁、命运转移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路程 / 时间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边权 / 延迟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能垒、概率、转移代价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终点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结合态、终末命运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路线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next-hop field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全局路径场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058AC-1553-4BF8-A9DD-00FF17D4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24050"/>
            <a:ext cx="114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E6ED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1BDDB-0DAA-4346-8EF1-3ECE6958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574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地图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BEB9A-7162-4519-9A85-6D0412B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2405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E6ED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CDD62-AA0C-4817-8C0F-566BE900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574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状态转移图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E7CF7-2644-429F-9645-D340A97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240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3335">
            <a:solidFill>
              <a:srgbClr val="67E8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C230E-3FEE-4D74-842F-6F94CD43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574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Wavefront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58125" y="2181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91B2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63125" y="2181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91B2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749C-90C9-442D-A342-0F48D712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3335">
            <a:solidFill>
              <a:srgbClr val="C4B5F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EC557-862E-4EFA-B1BD-03ACC04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全局到达场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359F0-7226-4D5C-9D25-9ECD5C8E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3335">
            <a:solidFill>
              <a:srgbClr val="FDBA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54287-CEA1-4B54-9FEC-3CA47509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2766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多请求复用</a:t>
            </a:r>
          </a:p>
        </p:txBody>
      </p:sp>
      <p:cxnSp>
        <p:nvCxnSpPr>
          <p:cNvPr id="39" name=""/>
          <p:cNvCxnSpPr>
            <a:stCxn xmlns:a="http://schemas.openxmlformats.org/drawingml/2006/main" id="9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9048750" y="2181225"/>
            <a:ext cx="1095375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048750" y="3400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34769-91D4-4BC1-B72C-1DF3E2FA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29125"/>
            <a:ext cx="4381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3FE67-99A5-4CB2-AD4C-586558DC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81525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汇报主线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83F03-2D3B-4F2F-9EF2-F4DCA2A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86325"/>
            <a:ext cx="403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单次点对点规划未必占优；优势来自一次传播生成全局场，再服务大量起点、目标或重复查询。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BA667-F878-434E-937A-665993B2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390712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213A2A-1042-4E98-99E0-B25A6F38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方向一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F0EA4-6155-49A6-9444-0EC2ED30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蛋白质构象路径场：生物化学原理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EFDE2-F58C-43E1-8567-2A30B195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01253-6A6E-4F26-B7ED-88C7C638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1A3F7-FE51-47A0-A8E6-23390CE3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蛋白质不是静态结构，而是在构象集合中热涨落与跃迁。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F474C-D056-453B-B275-766CEA2A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86C92-517C-4F51-BE5E-67930EF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自由能低谷对应稳定态；能垒决定跃迁难度。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786B6-00A6-4E7F-986E-5E1CA91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4E6C2-C9B5-4E20-AE3A-EA3954AE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药物结合、变构激活、折叠/错折叠都可视为目标构象到达。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5FC04-4440-4E47-BEA5-7494EF57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C9B26-6E1B-4C01-8BAD-DF3B0EAC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MD/MSM 可将轨迹整理成状态图；MFPT 或 -logP 可作为边权。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30f8bb8804eb1"/>
          <a:stretch xmlns:a="http://schemas.openxmlformats.org/drawingml/2006/main"/>
        </p:blipFill>
        <p:spPr>
          <a:xfrm xmlns:a="http://schemas.openxmlformats.org/drawingml/2006/main">
            <a:off x="5810250" y="1310921"/>
            <a:ext cx="5667375" cy="3093158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A1A25-1A60-4022-810B-95C41AE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56673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31288-E562-4A8E-9EDF-D5DBB155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67275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论文图说明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24874-00BF-4B51-8FF5-10B5339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72075"/>
            <a:ext cx="532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Trp-cage miniprotein 的自由能面与宏状态聚类展示：连续分子轨迹可被离散成 metastable states。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8BCC6-1885-4A90-AFAD-92993801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02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B0188-56C2-4218-9865-B37D6F96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53175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rPr>
              <a:t>图源：Sidky, Chen &amp; Ferguson, arXiv:1906.04890, Fig.7</a:t>
            </a:r>
          </a:p>
        </p:txBody>
      </p:sp>
    </p:spTree>
    <p:extLst>
      <p:ext uri="{BB962C8B-B14F-4D97-AF65-F5344CB8AC3E}">
        <p14:creationId xmlns:p14="http://schemas.microsoft.com/office/powerpoint/2010/main" val="1254983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BF41A-D361-4FAD-8BB7-FB5233EE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方向一 · 方法对比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4BB54-D5D8-4C7F-9292-47F8DC72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Wavefront 如何服务构象网络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285FD-5137-4016-B437-641E4E7F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6DF7B-E127-444C-866E-89998E14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14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86EFA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52654-1403-4A43-A2E8-80E11665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目标构象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D687F-12F9-4EAC-AA6F-F79A63B7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09750"/>
            <a:ext cx="1238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3335">
            <a:solidFill>
              <a:srgbClr val="67E8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7B0AE-E543-4C02-80CD-D1ABEE2A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431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反向传播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E0F18-766D-4B37-A5F6-6E9BA728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F3A20-565A-4222-B045-1AA89F08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431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next-hop field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66900" y="2066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91B2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86150" y="20669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91B2"/>
            </a:solidFill>
            <a:prstDash val="solid"/>
            <a:tailEnd type="triangle" w="sm" len="sm"/>
          </a:ln>
        </p:spPr>
      </p:cxnSp>
      <p:graphicFrame>
        <p:nvGraphicFramePr>
          <p:cNvPr id="30" name=""/>
          <p:cNvGraphicFramePr/>
          <p:nvPr/>
        </p:nvGraphicFramePr>
        <p:xfrm>
          <a:off xmlns:a="http://schemas.openxmlformats.org/drawingml/2006/main" x="666750" y="2809875"/>
          <a:ext xmlns:a="http://schemas.openxmlformats.org/drawingml/2006/main" cx="4953000" cy="2266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11088"/>
                <a:gridCol w="1820956"/>
                <a:gridCol w="1820956"/>
              </a:tblGrid>
              <a:tr h="5667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Dijkstra / A*</a:t>
                      </a:r>
                    </a:p>
                  </a:txBody>
                  <a:tcPr marL="91440" marR="91440" marT="45720" marB="45720" anchor="ctr"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Wavefront</a:t>
                      </a:r>
                    </a:p>
                  </a:txBody>
                  <a:tcPr marL="91440" marR="91440" marT="45720" marB="45720" anchor="ctr">
                    <a:solidFill>
                      <a:srgbClr val="ECFE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查询方式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每个起点独立规划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目标场一次生成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复用性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弱，结果只服务一对点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强，可服务大量起点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少量精确查询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多构象、多 pose、重复扰动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6E56A-3252-4339-B3D8-ABAB9017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4953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62527-CAE8-4F8F-A076-39076B02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核心判断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BF359-FB43-4190-B78E-8149A3D9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SNN wavefront 更像全局场生成器，而不是单次最短路算法的直接替代品。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b2973c55041ec"/>
          <a:stretch xmlns:a="http://schemas.openxmlformats.org/drawingml/2006/main"/>
        </p:blipFill>
        <p:spPr>
          <a:xfrm xmlns:a="http://schemas.openxmlformats.org/drawingml/2006/main">
            <a:off x="6143625" y="1387257"/>
            <a:ext cx="4762500" cy="4464486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E94C4-AAC2-4DB0-A3D4-9A46FEBF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03 /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F7C6F-A5BB-4A2D-8B1E-EEA9F058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53175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rPr>
              <a:t>图源：Sidky, Chen &amp; Ferguson, arXiv:1906.04890, Fig.8</a:t>
            </a:r>
          </a:p>
        </p:txBody>
      </p:sp>
    </p:spTree>
    <p:extLst>
      <p:ext uri="{BB962C8B-B14F-4D97-AF65-F5344CB8AC3E}">
        <p14:creationId xmlns:p14="http://schemas.microsoft.com/office/powerpoint/2010/main" val="1032725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8BC1B-0708-407C-9E46-C25AF952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方向二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6F63C-681B-40D7-859E-3C1B6F2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单细胞分化命运场：发育生物学原理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777F4-D1F5-448D-AD70-7311CEF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6F52D-7042-4ABD-81AA-607C0779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71C0D-76A5-4C40-958A-20FD3F15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scRNA-seq 将每个细胞表示为高维表达状态。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E575C-24D4-46CD-93DB-5DEFE70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658BD-2CD4-4A31-BC7F-C073483E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KNN 图描述细胞相似性；RNA velocity 或时间信息提供方向。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28F98-875F-419D-A044-48284805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9A995-F687-46A2-8473-8D293E6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终末细胞类型是目标 basin；中间细胞保留多种命运可能。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ED40D-FA71-49BE-AFEA-4A05DB76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77621-34D5-4DD0-B644-E9BF4A14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目标：判断当前细胞更接近哪种命运，以及下一步倾向。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e5399e1674025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219200"/>
            <a:ext cx="5572125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F2E9B-5B4A-4629-AF3B-0E0D6BA6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5572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62D23-897E-40AA-97F2-A4A0AB86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10200"/>
            <a:ext cx="522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论文图说明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230FE-45DD-416B-8DD1-14D93A5D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15000"/>
            <a:ext cx="522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CellRank 将 velocity 与 KNN 图结合为有向 Markov chain，并计算 terminal fate probabilities。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E9A84-B4DD-4041-8A60-DD904BF7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04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276C5-49CF-4E4E-A70A-30D6A915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53175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rPr>
              <a:t>图源：Lange et al., Nature Methods 2022, CellRank Fig.1</a:t>
            </a:r>
          </a:p>
        </p:txBody>
      </p:sp>
    </p:spTree>
    <p:extLst>
      <p:ext uri="{BB962C8B-B14F-4D97-AF65-F5344CB8AC3E}">
        <p14:creationId xmlns:p14="http://schemas.microsoft.com/office/powerpoint/2010/main" val="190879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665CCF-34F5-425C-9666-7D435C87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方向二 · 方法对比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3654B-D7C1-41E7-AB1C-703098DB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Wavefront 用于细胞命运查询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177B0-BFDC-4EB9-B2D0-D413E9D8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14DE8-ECC1-49CD-9D3A-BCA396A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238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3335">
            <a:solidFill>
              <a:srgbClr val="C4B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37FE-4B8A-4377-ABAC-1DB42393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终末命运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92EB6-7168-4DED-ADF9-66FE8BDF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669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3335">
            <a:solidFill>
              <a:srgbClr val="67E8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0B0AB-78FD-4954-9759-8D29936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反向 wavefront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823E7-40F7-4A07-9696-831EA517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C58C6-06E1-4092-9931-8499EE9C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命运目标场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75BED-3EF4-4A75-AA1F-A04E55B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3335">
            <a:solidFill>
              <a:srgbClr val="FDBA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1FC88-2649-41AB-9BC2-4F5570ED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2033"/>
                </a:solidFill>
                <a:latin typeface="PingFang SC"/>
                <a:ea typeface="PingFang SC"/>
                <a:cs typeface="PingFang SC"/>
              </a:rPr>
              <a:t>全部细胞查询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812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243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91B2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72150" y="21240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742950" y="2905125"/>
          <a:ext xmlns:a="http://schemas.openxmlformats.org/drawingml/2006/main" cx="723900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10833"/>
                <a:gridCol w="2513542"/>
                <a:gridCol w="2714625"/>
              </a:tblGrid>
              <a:tr h="58340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单细胞问题</a:t>
                      </a:r>
                    </a:p>
                  </a:txBody>
                  <a:tcPr marL="91440" marR="91440" marT="45720" marB="45720"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传统单对单查询</a:t>
                      </a:r>
                    </a:p>
                  </a:txBody>
                  <a:tcPr marL="91440" marR="91440" marT="45720" marB="45720" anchor="ctr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Wavefront 目标场</a:t>
                      </a:r>
                    </a:p>
                  </a:txBody>
                  <a:tcPr marL="91440" marR="91440" marT="45720" marB="45720" anchor="ctr">
                    <a:solidFill>
                      <a:srgbClr val="F5F3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一个目标命运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 个细胞需 N 次查询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一次传播服务 N 个细胞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多个终末命运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细胞-命运对数量增长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多个目标场可竞争比较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扰动/阻断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重新逐对规划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更新边权后重发波前</a:t>
                      </a:r>
                    </a:p>
                  </a:txBody>
                  <a:tcPr marL="91440" marR="91440" marT="45720" marB="45720" anchor="ctr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3ADA7-70FD-463F-B54A-4815F845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667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E5F10-8DFE-483B-96DE-AF7A4B0B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适用任务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C64C2-2DBD-43C3-9B8C-DDC942E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胰腺发育、造血分化、肿瘤耐药、细胞重编程。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F052C-5873-43B4-A7A9-ED799CF8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667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6ED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5D2EB-48CB-49FD-A7F1-96F2D88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汇报结论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C9357-1A6B-4D9F-8F96-7BF09A3E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Wavefront 的价值在于一次生成可复用的全局命运路径场。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E670E-4DAA-44DC-A717-2175429F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2657A"/>
                </a:solidFill>
                <a:latin typeface="PingFang SC"/>
                <a:ea typeface="PingFang SC"/>
                <a:cs typeface="PingFang SC"/>
              </a:rPr>
              <a:t>05 / 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7CC3B-022C-41BE-9F16-4AB6ACD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53175"/>
            <a:ext cx="592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8788A"/>
                </a:solidFill>
                <a:latin typeface="PingFang SC"/>
                <a:ea typeface="PingFang SC"/>
                <a:cs typeface="PingFang SC"/>
              </a:rPr>
              <a:t>参考：Lange et al., Nature Methods 2022; Ponulak &amp; Hopfield, arXiv:1205.0335</a:t>
            </a:r>
          </a:p>
        </p:txBody>
      </p:sp>
    </p:spTree>
    <p:extLst>
      <p:ext uri="{BB962C8B-B14F-4D97-AF65-F5344CB8AC3E}">
        <p14:creationId xmlns:p14="http://schemas.microsoft.com/office/powerpoint/2010/main" val="2100542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2026-06-22T09:51:05.6820000Z</dcterms:created>
  <dcterms:modified xsi:type="dcterms:W3CDTF">2026-06-22T09:51:05.6820000Z</dcterms:modified>
</coreProperties>
</file>